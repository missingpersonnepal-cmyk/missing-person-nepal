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3"/>
          </a:solidFill>
          <a:ln>
            <a:solidFill>
              <a:srgbClr val="F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2211C"/>
          </a:solidFill>
          <a:ln>
            <a:solidFill>
              <a:srgbClr val="1221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97280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2211C"/>
                </a:solidFill>
                <a:latin typeface="Aptos"/>
              </a:rPr>
              <a:t>Missing Person Nepal</a:t>
            </a:r>
          </a:p>
          <a:p>
            <a:r>
              <a:t>User Manual and Operational Training Guide</a:t>
            </a:r>
            <a:r>
              <a:rPr sz="2000" b="1">
                <a:solidFill>
                  <a:srgbClr val="2F553B"/>
                </a:solidFill>
                <a:latin typeface="Aptos"/>
              </a:rPr>
              <a:t/>
            </a:r>
          </a:p>
          <a:p>
            <a:r>
              <a:t>Bilingual English and Nepali presentation for admins, coordinators, and handover briefings.</a:t>
            </a:r>
            <a:r>
              <a:rPr sz="1400" b="0">
                <a:solidFill>
                  <a:srgbClr val="66706C"/>
                </a:solidFill>
                <a:latin typeface="Aptos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3"/>
          </a:solidFill>
          <a:ln>
            <a:solidFill>
              <a:srgbClr val="F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2211C"/>
          </a:solidFill>
          <a:ln>
            <a:solidFill>
              <a:srgbClr val="1221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2211C"/>
                </a:solidFill>
                <a:latin typeface="Aptos"/>
              </a:rPr>
              <a:t>Purpose of the System</a:t>
            </a:r>
          </a:p>
          <a:p>
            <a:r>
              <a:rPr sz="1200" b="0">
                <a:solidFill>
                  <a:srgbClr val="66706C"/>
                </a:solidFill>
                <a:latin typeface="Aptos"/>
              </a:rPr>
              <a:t>What it is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5486400" cy="4983480"/>
          </a:xfrm>
          <a:prstGeom prst="rect">
            <a:avLst/>
          </a:prstGeom>
          <a:solidFill>
            <a:srgbClr val="FFFFFF"/>
          </a:solidFill>
          <a:ln>
            <a:solidFill>
              <a:srgbClr val="DC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50292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553B"/>
                </a:solidFill>
                <a:latin typeface="Aptos"/>
              </a:rPr>
              <a:t>English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Aptos"/>
              </a:rPr>
              <a:t>Collects public reports and direct submissions for disaster-related missing persons.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Aptos"/>
              </a:rPr>
              <a:t>Keeps source links, notes, and evidence attached to the right person record.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Aptos"/>
              </a:rPr>
              <a:t>Helps admins spot likely duplicates before publishing or merging cases.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Aptos"/>
              </a:rPr>
              <a:t>Supports search, review, publishing, export, and shift handover in one place.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9632" y="1417320"/>
            <a:ext cx="5486400" cy="4983480"/>
          </a:xfrm>
          <a:prstGeom prst="rect">
            <a:avLst/>
          </a:prstGeom>
          <a:solidFill>
            <a:srgbClr val="FFFFFF"/>
          </a:solidFill>
          <a:ln>
            <a:solidFill>
              <a:srgbClr val="DC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2" y="1600200"/>
            <a:ext cx="50292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553B"/>
                </a:solidFill>
                <a:latin typeface="Mangal"/>
              </a:rPr>
              <a:t>??????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Mangal"/>
              </a:rPr>
              <a:t>???????? ????????? ??????? ????????? ????????? ??????? ? ????????? ????????? ????? ?????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Mangal"/>
              </a:rPr>
              <a:t>????? ????, ???, ? ?????? ??? ????????? ????????? ???????? ??????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Mangal"/>
              </a:rPr>
              <a:t>??????? ?? ???? ????? ??? ???????? ?????? ?????? ????? ????? ????? ?????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Mangal"/>
              </a:rPr>
              <a:t>???, ???????, ???????, export, ? shift handover ???? ?????? ?????? ?????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3"/>
          </a:solidFill>
          <a:ln>
            <a:solidFill>
              <a:srgbClr val="F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2211C"/>
          </a:solidFill>
          <a:ln>
            <a:solidFill>
              <a:srgbClr val="1221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2211C"/>
                </a:solidFill>
                <a:latin typeface="Aptos"/>
              </a:rPr>
              <a:t>How It Works</a:t>
            </a:r>
          </a:p>
          <a:p>
            <a:r>
              <a:rPr sz="1200" b="0">
                <a:solidFill>
                  <a:srgbClr val="66706C"/>
                </a:solidFill>
                <a:latin typeface="Aptos"/>
              </a:rPr>
              <a:t>Workflow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5486400" cy="4983480"/>
          </a:xfrm>
          <a:prstGeom prst="rect">
            <a:avLst/>
          </a:prstGeom>
          <a:solidFill>
            <a:srgbClr val="FFFFFF"/>
          </a:solidFill>
          <a:ln>
            <a:solidFill>
              <a:srgbClr val="DC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50292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553B"/>
                </a:solidFill>
                <a:latin typeface="Aptos"/>
              </a:rPr>
              <a:t>English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Aptos"/>
              </a:rPr>
              <a:t>Public reports and submissions enter the system.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Aptos"/>
              </a:rPr>
              <a:t>Discovery and review find matching public sources.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Aptos"/>
              </a:rPr>
              <a:t>Admins verify details and attach evidence to the correct record.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Aptos"/>
              </a:rPr>
              <a:t>Published cases remain searchable and up to date.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9632" y="1417320"/>
            <a:ext cx="5486400" cy="4983480"/>
          </a:xfrm>
          <a:prstGeom prst="rect">
            <a:avLst/>
          </a:prstGeom>
          <a:solidFill>
            <a:srgbClr val="FFFFFF"/>
          </a:solidFill>
          <a:ln>
            <a:solidFill>
              <a:srgbClr val="DC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2" y="1600200"/>
            <a:ext cx="50292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553B"/>
                </a:solidFill>
                <a:latin typeface="Mangal"/>
              </a:rPr>
              <a:t>??????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Mangal"/>
              </a:rPr>
              <a:t>????????? ??????? ? ?????? ????????? ?????? ???????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Mangal"/>
              </a:rPr>
              <a:t>Discovery ? review ?? ?????? ????????? ???????? ???? ????????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Mangal"/>
              </a:rPr>
              <a:t>Admin ?? ????? ?????? ??? ????????? ?????? ????????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Mangal"/>
              </a:rPr>
              <a:t>???????? case ??? ????? ?????? ? ????????? ????????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3"/>
          </a:solidFill>
          <a:ln>
            <a:solidFill>
              <a:srgbClr val="F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2211C"/>
          </a:solidFill>
          <a:ln>
            <a:solidFill>
              <a:srgbClr val="1221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2211C"/>
                </a:solidFill>
                <a:latin typeface="Aptos"/>
              </a:rPr>
              <a:t>How to Use the Admin Panel</a:t>
            </a:r>
          </a:p>
          <a:p>
            <a:r>
              <a:rPr sz="1200" b="0">
                <a:solidFill>
                  <a:srgbClr val="66706C"/>
                </a:solidFill>
                <a:latin typeface="Aptos"/>
              </a:rPr>
              <a:t>Daily 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5486400" cy="4983480"/>
          </a:xfrm>
          <a:prstGeom prst="rect">
            <a:avLst/>
          </a:prstGeom>
          <a:solidFill>
            <a:srgbClr val="FFFFFF"/>
          </a:solidFill>
          <a:ln>
            <a:solidFill>
              <a:srgbClr val="DC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50292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553B"/>
                </a:solidFill>
                <a:latin typeface="Aptos"/>
              </a:rPr>
              <a:t>English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Aptos"/>
              </a:rPr>
              <a:t>Log in and open the Dashboard.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Aptos"/>
              </a:rPr>
              <a:t>Use Discovery to review source candidates.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Aptos"/>
              </a:rPr>
              <a:t>Approve submissions or attach them to existing people.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Aptos"/>
              </a:rPr>
              <a:t>Open People and Events to maintain case records.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Aptos"/>
              </a:rPr>
              <a:t>Use Export and Help &amp; Training for handover.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9632" y="1417320"/>
            <a:ext cx="5486400" cy="4983480"/>
          </a:xfrm>
          <a:prstGeom prst="rect">
            <a:avLst/>
          </a:prstGeom>
          <a:solidFill>
            <a:srgbClr val="FFFFFF"/>
          </a:solidFill>
          <a:ln>
            <a:solidFill>
              <a:srgbClr val="DC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2" y="1600200"/>
            <a:ext cx="50292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553B"/>
                </a:solidFill>
                <a:latin typeface="Mangal"/>
              </a:rPr>
              <a:t>??????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Mangal"/>
              </a:rPr>
              <a:t>????? ???? Dashboard ???????????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Mangal"/>
              </a:rPr>
              <a:t>Discovery ?????? ???? candidate ???????? ??????? ??????????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Mangal"/>
              </a:rPr>
              <a:t>Submissions approve ????????? ?? existing ?????????? ???????????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Mangal"/>
              </a:rPr>
              <a:t>People ? Events ?? ??? case ????????? ??????????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Mangal"/>
              </a:rPr>
              <a:t>Export ? Help &amp; Training ??? handover ??????????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3"/>
          </a:solidFill>
          <a:ln>
            <a:solidFill>
              <a:srgbClr val="F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2211C"/>
          </a:solidFill>
          <a:ln>
            <a:solidFill>
              <a:srgbClr val="1221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2211C"/>
                </a:solidFill>
                <a:latin typeface="Aptos"/>
              </a:rPr>
              <a:t>Map Features</a:t>
            </a:r>
          </a:p>
          <a:p>
            <a:r>
              <a:rPr sz="1200" b="0">
                <a:solidFill>
                  <a:srgbClr val="66706C"/>
                </a:solidFill>
                <a:latin typeface="Aptos"/>
              </a:rPr>
              <a:t>Operational map tools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5486400" cy="4983480"/>
          </a:xfrm>
          <a:prstGeom prst="rect">
            <a:avLst/>
          </a:prstGeom>
          <a:solidFill>
            <a:srgbClr val="FFFFFF"/>
          </a:solidFill>
          <a:ln>
            <a:solidFill>
              <a:srgbClr val="DC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50292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553B"/>
                </a:solidFill>
                <a:latin typeface="Aptos"/>
              </a:rPr>
              <a:t>English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Aptos"/>
              </a:rPr>
              <a:t>Cluster pins to reduce clutter.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Aptos"/>
              </a:rPr>
              <a:t>Heatmap to show hotspots.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Aptos"/>
              </a:rPr>
              <a:t>Circle or boundary overlays for event areas.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Aptos"/>
              </a:rPr>
              <a:t>Nearby-case search and route overlays for coordination.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9632" y="1417320"/>
            <a:ext cx="5486400" cy="4983480"/>
          </a:xfrm>
          <a:prstGeom prst="rect">
            <a:avLst/>
          </a:prstGeom>
          <a:solidFill>
            <a:srgbClr val="FFFFFF"/>
          </a:solidFill>
          <a:ln>
            <a:solidFill>
              <a:srgbClr val="DC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2" y="1600200"/>
            <a:ext cx="50292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553B"/>
                </a:solidFill>
                <a:latin typeface="Mangal"/>
              </a:rPr>
              <a:t>??????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Mangal"/>
              </a:rPr>
              <a:t>??? ?? ???? cluster pins ?????? ??????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Mangal"/>
              </a:rPr>
              <a:t>Hotspot ?????? heatmap ?????? ??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Mangal"/>
              </a:rPr>
              <a:t>???? ??????? ?????? circle ?? boundary overlay ?????? ??????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Mangal"/>
              </a:rPr>
              <a:t>?????? case ? route overlay ???????? ???? ?????? ????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3"/>
          </a:solidFill>
          <a:ln>
            <a:solidFill>
              <a:srgbClr val="F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2211C"/>
          </a:solidFill>
          <a:ln>
            <a:solidFill>
              <a:srgbClr val="1221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2211C"/>
                </a:solidFill>
                <a:latin typeface="Aptos"/>
              </a:rPr>
              <a:t>Search and Discovery</a:t>
            </a:r>
          </a:p>
          <a:p>
            <a:r>
              <a:rPr sz="1200" b="0">
                <a:solidFill>
                  <a:srgbClr val="66706C"/>
                </a:solidFill>
                <a:latin typeface="Aptos"/>
              </a:rPr>
              <a:t>Google-backed wide 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5486400" cy="4983480"/>
          </a:xfrm>
          <a:prstGeom prst="rect">
            <a:avLst/>
          </a:prstGeom>
          <a:solidFill>
            <a:srgbClr val="FFFFFF"/>
          </a:solidFill>
          <a:ln>
            <a:solidFill>
              <a:srgbClr val="DC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50292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553B"/>
                </a:solidFill>
                <a:latin typeface="Aptos"/>
              </a:rPr>
              <a:t>English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Aptos"/>
              </a:rPr>
              <a:t>Wide search uses Google-backed discovery when configured.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Aptos"/>
              </a:rPr>
              <a:t>Operator-added search tags improve coverage.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Aptos"/>
              </a:rPr>
              <a:t>Manual fallback links stay visible even if the provider key is missing.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Aptos"/>
              </a:rPr>
              <a:t>Search results still require human review before publishing.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9632" y="1417320"/>
            <a:ext cx="5486400" cy="4983480"/>
          </a:xfrm>
          <a:prstGeom prst="rect">
            <a:avLst/>
          </a:prstGeom>
          <a:solidFill>
            <a:srgbClr val="FFFFFF"/>
          </a:solidFill>
          <a:ln>
            <a:solidFill>
              <a:srgbClr val="DC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2" y="1600200"/>
            <a:ext cx="50292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553B"/>
                </a:solidFill>
                <a:latin typeface="Mangal"/>
              </a:rPr>
              <a:t>??????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Mangal"/>
              </a:rPr>
              <a:t>Wide search ??????? ???? Google-backed ??? ?????? ??????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Mangal"/>
              </a:rPr>
              <a:t>Operator ?? ????? search tag ?? coverage ?????????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Mangal"/>
              </a:rPr>
              <a:t>Provider key ??? ??? manual Google search links ??????????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Mangal"/>
              </a:rPr>
              <a:t>??????? ??? ??? result ?????? ??????? ?????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3"/>
          </a:solidFill>
          <a:ln>
            <a:solidFill>
              <a:srgbClr val="F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2211C"/>
          </a:solidFill>
          <a:ln>
            <a:solidFill>
              <a:srgbClr val="1221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2211C"/>
                </a:solidFill>
                <a:latin typeface="Aptos"/>
              </a:rPr>
              <a:t>Safety and Quality</a:t>
            </a:r>
          </a:p>
          <a:p>
            <a:r>
              <a:rPr sz="1200" b="0">
                <a:solidFill>
                  <a:srgbClr val="66706C"/>
                </a:solidFill>
                <a:latin typeface="Aptos"/>
              </a:rPr>
              <a:t>What admins must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5486400" cy="4983480"/>
          </a:xfrm>
          <a:prstGeom prst="rect">
            <a:avLst/>
          </a:prstGeom>
          <a:solidFill>
            <a:srgbClr val="FFFFFF"/>
          </a:solidFill>
          <a:ln>
            <a:solidFill>
              <a:srgbClr val="DC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50292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553B"/>
                </a:solidFill>
                <a:latin typeface="Aptos"/>
              </a:rPr>
              <a:t>English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Aptos"/>
              </a:rPr>
              <a:t>Never guess names, dates, phone numbers, or locations.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Aptos"/>
              </a:rPr>
              <a:t>Keep private reporter details private.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Aptos"/>
              </a:rPr>
              <a:t>Do not publish without a source URL.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Aptos"/>
              </a:rPr>
              <a:t>Mark cases Found or Identified when resolved.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9632" y="1417320"/>
            <a:ext cx="5486400" cy="4983480"/>
          </a:xfrm>
          <a:prstGeom prst="rect">
            <a:avLst/>
          </a:prstGeom>
          <a:solidFill>
            <a:srgbClr val="FFFFFF"/>
          </a:solidFill>
          <a:ln>
            <a:solidFill>
              <a:srgbClr val="DC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2" y="1600200"/>
            <a:ext cx="50292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553B"/>
                </a:solidFill>
                <a:latin typeface="Mangal"/>
              </a:rPr>
              <a:t>??????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Mangal"/>
              </a:rPr>
              <a:t>???, ????, ??? ?????, ?? ????? ?????? ???????????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Mangal"/>
              </a:rPr>
              <a:t>reporter ?? ???? ????? ????? ???????????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Mangal"/>
              </a:rPr>
              <a:t>????? URL ???? ??????? ???????? ???????????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Mangal"/>
              </a:rPr>
              <a:t>?????? ???? case ??? Found ?? Identified ???????????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3"/>
          </a:solidFill>
          <a:ln>
            <a:solidFill>
              <a:srgbClr val="F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2211C"/>
          </a:solidFill>
          <a:ln>
            <a:solidFill>
              <a:srgbClr val="1221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2211C"/>
                </a:solidFill>
                <a:latin typeface="Aptos"/>
              </a:rPr>
              <a:t>Closing Notes</a:t>
            </a:r>
          </a:p>
          <a:p>
            <a:r>
              <a:rPr sz="1200" b="0">
                <a:solidFill>
                  <a:srgbClr val="66706C"/>
                </a:solidFill>
                <a:latin typeface="Aptos"/>
              </a:rPr>
              <a:t>Handover checklist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5486400" cy="4983480"/>
          </a:xfrm>
          <a:prstGeom prst="rect">
            <a:avLst/>
          </a:prstGeom>
          <a:solidFill>
            <a:srgbClr val="FFFFFF"/>
          </a:solidFill>
          <a:ln>
            <a:solidFill>
              <a:srgbClr val="DC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50292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553B"/>
                </a:solidFill>
                <a:latin typeface="Aptos"/>
              </a:rPr>
              <a:t>English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Aptos"/>
              </a:rPr>
              <a:t>Review urgent items first.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Aptos"/>
              </a:rPr>
              <a:t>Export the event at shift end.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Aptos"/>
              </a:rPr>
              <a:t>Keep the help hub and PPTX handy for the next admin.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Aptos"/>
              </a:rPr>
              <a:t>When in doubt, preserve evidence and escalate to a human reviewer.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9632" y="1417320"/>
            <a:ext cx="5486400" cy="4983480"/>
          </a:xfrm>
          <a:prstGeom prst="rect">
            <a:avLst/>
          </a:prstGeom>
          <a:solidFill>
            <a:srgbClr val="FFFFFF"/>
          </a:solidFill>
          <a:ln>
            <a:solidFill>
              <a:srgbClr val="DCE2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2" y="1600200"/>
            <a:ext cx="50292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553B"/>
                </a:solidFill>
                <a:latin typeface="Mangal"/>
              </a:rPr>
              <a:t>??????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Mangal"/>
              </a:rPr>
              <a:t>Urgent item ????? ??????? ??????????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Mangal"/>
              </a:rPr>
              <a:t>Shift ?????? event export ??????????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Mangal"/>
              </a:rPr>
              <a:t>????? admin ?? ???? help hub ? PPTX ?????? ???????????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2211C"/>
                </a:solidFill>
                <a:latin typeface="Mangal"/>
              </a:rPr>
              <a:t>?????? ???? ?????? ???????? ????? ???? ??????? ??????????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